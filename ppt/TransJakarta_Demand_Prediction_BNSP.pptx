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Perkenalan: portofolio Data Scientist BNSP. Proyek memprediksi demand penumpang TransJakarta memakai machine learning, mengikuti siklus CRISP-DM penuh.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bisnis: armada vs permintaan tidak seimbang. Dataset: 189.500 transaksi, 10.000 kartu, 216 koridor pada April 2023.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objektif bisnis dan tujuan teknis (regresi). Metrik sukses: MAE operasional tercapai 1,05; R² 0,715; unggul dari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 data dan enam kelompok kolom. Dua temuan penting yang menghindarkan salah pilih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 jam bimodal dan perbedaan hari kerja vs akhir pekan — dasar utama sinyal prediksi.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Distribusi koridor long-tail dan heatmap jam×hari. Membantu prioritisasi sumber daya.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Validasi kelengkapan + empat langkah pembersihan terdokumentasi dengan log before/after (bukti Unit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Fitur waktu &amp; koridor. Penekanan pada strategi anti-kebocoran — poin penting saat asesmen.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Tujuh model dibandingkan secara adil; XGBoost Poisson menang. Objektif Poisson tepat untuk data cacah.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unggul pada semua metrik. Model non-linier jauh melampaui regresi linier.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Metrik hold-out; prediksi vs aktual dan distribusi residual menunjukkan model tak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importance mengonfirmasi H4: fitur waktu paling berpengaruh, mendukung keputusan penjadwalan.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Unit 11: proses sesuai &amp; berkualitas; contoh kontrol kualitas menemukan bug leakage; keterbatasan diakui jujur.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rekomendasi bisnis yang dapat langsung ditindaklanjuti dari hasil model &amp; 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Aplikasi 8 halaman. Fitur unggulan: simulasi menghasilkan kurva demand 24 jam. Arsitektur: model offline, app memuat artefak, deploy di Streamlit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rangkuman pencapaian, cakupan SKKNI, dan deliverable. Ucapan terima kasih.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🚌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TransJakarta Passenger Analytics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Demand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Pola Penumpang &amp; Prediksi Permintaan Transportasi Publik dengan Machine Learning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206240"/>
            <a:ext cx="5669280" cy="502920"/>
          </a:xfrm>
          <a:prstGeom prst="roundRect">
            <a:avLst>
              <a:gd name="adj" fmla="val 49091"/>
            </a:avLst>
          </a:prstGeom>
          <a:solidFill>
            <a:srgbClr val="F2652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206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Portofolio Sertifikasi BNSP · Ilmuwan Data (DSS.01.00.23)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Asesi: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Yusuf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Metodologi: CRISP-DM     |     Periode data: April 2023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&amp; Permasalahan Bisnis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1 — Business Understanding · SKKNI Unit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TransJakarta melayani jutaan perjalanan setiap bulan. Ketidakseimbangan antara ketersediaan armada dan permintaan aktual penumpang menimbulkan tiga masalah utama: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862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Penumpukan di jam sibuk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Penumpang menumpuk saat armada tak cukup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913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Armada kosong saat lengang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270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Utilisasi rendah di luar jam puncak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965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SDM tak optimal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321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Penempatan petugas halte tidak berbasis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691640"/>
            <a:ext cx="2560320" cy="1874520"/>
          </a:xfrm>
          <a:prstGeom prst="roundRect">
            <a:avLst>
              <a:gd name="adj" fmla="val 439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189.500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49224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tap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81160" y="1691640"/>
            <a:ext cx="2560320" cy="1874520"/>
          </a:xfrm>
          <a:prstGeom prst="roundRect">
            <a:avLst>
              <a:gd name="adj" fmla="val 439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81160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28116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unik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3840480"/>
            <a:ext cx="2560320" cy="1874520"/>
          </a:xfrm>
          <a:prstGeom prst="roundRect">
            <a:avLst>
              <a:gd name="adj" fmla="val 439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4206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49224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Koridor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281160" y="3840480"/>
            <a:ext cx="2560320" cy="1874520"/>
          </a:xfrm>
          <a:prstGeom prst="roundRect">
            <a:avLst>
              <a:gd name="adj" fmla="val 439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281160" y="4206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April 2023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28116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Objektif Bisnis, Metrik Sukses &amp; Tujuan Teknis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SKKNI Unit 1 &amp; 2 — Business &amp; Technical Goals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Objektif Bisnis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pola pergerakan penumpang (jam, hari, koridor, demografi)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model prediksi jumlah penumpang per koridor/jam/hari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alat bantu keputusan interaktif untuk perencanaan operasional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Tujuan Teknis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Supervised Regression (memprediksi cacah penumpang)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analisis: agregasi (koridor × tanggal × jam)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Kriteria: R², MAE, RMSE, MAPE pada data hold-out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 Kesuksesan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92240" y="214884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93408" y="2606040"/>
            <a:ext cx="182880" cy="18288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2768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— MAE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≤ 1,5 pnp/slot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66960" y="24048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6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  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92240" y="342900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93408" y="3886200"/>
            <a:ext cx="182880" cy="18288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35570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— R²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0,70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66960" y="36850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0,715  ✓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92240" y="470916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93408" y="516636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48371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5257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harus unggul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0" y="49651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Unggul  ✓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Telaah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2 — Data Understanding · SKKNI Unit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transaksi smart-card tap-in/tap-out TransJakarta — 22 kolom mencakup identitas transaksi, demografi kartu, koridor, halte + geolokasi, waktu, dan tarif.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Demografi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Bank, nama, gender, tahun lahir → usia (11–77 th)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3774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Koridor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34840" y="2926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 rute: BRT, Mikrotrans (JAK), pengumpan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3774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Geolokasi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38160" y="2926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 tap-in &amp; tap-out + lintang/bujur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Waktu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tap → jam &amp; hari (fitur kunci)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379476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3484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Tarif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34840" y="4343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Rp0 (JAK gratis), Rp3.500 (BRT), Rp20.000 (premium)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379476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Target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4343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jumlah penumpang per koridor-jam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penting: durasi perjalanan acak (korelasi ≈ 0 dengan jarak) → tidak dijadikan target; tarif deterministik dari koridor → hanya untuk EDA.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 Permintaan Penumpang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Hipotesis H1 &amp; H2 terbukti</a:t>
            </a:r>
            <a:endParaRPr lang="en-US" sz="1400" dirty="0"/>
          </a:p>
        </p:txBody>
      </p:sp>
      <p:pic>
        <p:nvPicPr>
          <p:cNvPr id="4" name="Image 0" descr="../assets/fig_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5852160" cy="3273552"/>
          </a:xfrm>
          <a:prstGeom prst="rect">
            <a:avLst/>
          </a:prstGeom>
        </p:spPr>
      </p:pic>
      <p:pic>
        <p:nvPicPr>
          <p:cNvPr id="5" name="Image 1" descr="../assets/fig_week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303520" cy="2971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85800" y="52578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Pola bimodal: </a:t>
            </a:r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puncak tajam jam 6–7 pagi &amp; 16–17 sore.    </a:t>
            </a:r>
            <a:pPr indent="0" marL="0"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Hari kerja ±3,7× lebih ramai </a:t>
            </a:r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dibanding akhir pekan.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Konsentrasi Koridor &amp; Kepadatan Waktu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Hipotesis H3 terbukti (distribusi long-tail)</a:t>
            </a:r>
            <a:endParaRPr lang="en-US" sz="1400" dirty="0"/>
          </a:p>
        </p:txBody>
      </p:sp>
      <p:pic>
        <p:nvPicPr>
          <p:cNvPr id="4" name="Image 0" descr="../assets/fig_top_corrid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669280" cy="3172968"/>
          </a:xfrm>
          <a:prstGeom prst="rect">
            <a:avLst/>
          </a:prstGeom>
        </p:spPr>
      </p:pic>
      <p:pic>
        <p:nvPicPr>
          <p:cNvPr id="5" name="Image 1" descr="../assets/fig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2971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5029200"/>
            <a:ext cx="1124712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85800" y="52120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Long-tail: </a:t>
            </a:r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kecil koridor menyerap mayoritas penumpang. Heatmap menegaskan blok padat pada jam sibuk hari kerja — kandidat prioritas armada &amp; petugas.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 &amp; Pembersihan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3 — Data Preparation · SKKNI Unit 4–6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81,25%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lengkap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transID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 tak lengkap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1540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 invalid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Pembersihan (dengan log before → after)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767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Duplikasi transID — </a:t>
            </a:r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Dibuang untuk integritas transaksi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407408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4256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Koridor kosong (20.508 sel) — </a:t>
            </a:r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Diisi label 'Unknown' agar tetap teragregasi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5065776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50840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tidak masuk akal — </a:t>
            </a:r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Dikoreksi ke NaN (baris dipertahankan)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5724144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5724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57424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 tanpa tap-out — </a:t>
            </a:r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Ditandai; tetap dipakai untuk model demand (basis tap-in)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3 — Konstruksi Data · SKKNI Unit 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56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Fitur Waktu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185623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· day_of_week · day_name · is_weekend · is_peak · part_of_day · week_of_month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36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Fitur Koridor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313639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corridorID (target-encoded, cross-fitted) · corridor_type (one-hot)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1E5AA8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416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Transformasi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441655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ke (koridor × tanggal × jam) → target passenger_count = 61.730 slot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24344F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Anti-kebocoran: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demografi per-slot sengaja diabaikan (baru diketahui setelah tap); demand historis koridor ditangani TargetEncoder ber-cross-fitting, bukan rata-rata manual.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Skenario Pemodelan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4 — Modeling · SKKNI Unit 8 &amp;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model kandidat dibandingkan pada pipeline &amp; split identik (80/20), diseleksi via cross-validation 3-fold, lalu pemenang dioptimasi (RandomizedSearchCV).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3774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(Rata-rata)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37560" y="237744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3774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Linier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237744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23774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915400" y="237744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006840" y="23774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337560" y="342900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29000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26480" y="342900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(Poisson)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915400" y="3429000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15400" y="3611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Pemenang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15400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915400" y="4526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=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count:poisson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Objektif Poisson dipilih karena target berupa data cacah (count) — lebih tepat secara statistik dan tak menghasilkan prediksi negatif.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Perbandingan Model &amp; Pemilihan Terbaik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SKKNI Unit 9 — evaluasi adil antar kandidat</a:t>
            </a:r>
            <a:endParaRPr lang="en-US" sz="1400" dirty="0"/>
          </a:p>
        </p:txBody>
      </p:sp>
      <p:pic>
        <p:nvPicPr>
          <p:cNvPr id="4" name="Image 0" descr="../assets/fig_model_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949440" cy="3895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R² per Model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80960" y="224028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63840" y="2240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332720" y="22402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0,735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80960" y="292608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863840" y="2926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332720" y="29260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0,727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680960" y="361188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863840" y="3611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0332720" y="36118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0,687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680960" y="429768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863840" y="42976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0332720" y="42976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0,664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680960" y="4983480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863840" y="49834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Linier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332720" y="49834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0,420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680960" y="5715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tree-based mengungguli regresi linier karena hubungan fitur–target non-linier (efek jam &amp; hari).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Model pada Data Hold-out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5 — Evaluation · SKKNI Unit 10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91640" cy="1280160"/>
          </a:xfrm>
          <a:prstGeom prst="roundRect">
            <a:avLst>
              <a:gd name="adj" fmla="val 642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0,715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1554480"/>
            <a:ext cx="1691640" cy="1280160"/>
          </a:xfrm>
          <a:prstGeom prst="roundRect">
            <a:avLst>
              <a:gd name="adj" fmla="val 642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737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2316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(pnp)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1691640" cy="1280160"/>
          </a:xfrm>
          <a:prstGeom prst="roundRect">
            <a:avLst>
              <a:gd name="adj" fmla="val 642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1737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9768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(pnp)</a:t>
            </a:r>
            <a:endParaRPr lang="en-US" sz="1200" dirty="0"/>
          </a:p>
        </p:txBody>
      </p:sp>
      <p:pic>
        <p:nvPicPr>
          <p:cNvPr id="13" name="Image 0" descr="../assets/fig_pred_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017520"/>
            <a:ext cx="5669280" cy="3172968"/>
          </a:xfrm>
          <a:prstGeom prst="rect">
            <a:avLst/>
          </a:prstGeom>
        </p:spPr>
      </p:pic>
      <p:pic>
        <p:nvPicPr>
          <p:cNvPr id="14" name="Image 1" descr="../assets/fig_resid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017520"/>
            <a:ext cx="5486400" cy="30723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63640" y="17373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mengumpul di sekitar garis ideal; residual terpusat di nol tanpa bias sistematis.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Faktor Pendorong Permintaan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Hipotesis H4 terbukti</a:t>
            </a:r>
            <a:endParaRPr lang="en-US" sz="1400" dirty="0"/>
          </a:p>
        </p:txBody>
      </p:sp>
      <p:pic>
        <p:nvPicPr>
          <p:cNvPr id="4" name="Image 0" descr="../assets/fig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766560" cy="3785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737360"/>
            <a:ext cx="4206240" cy="3931920"/>
          </a:xfrm>
          <a:prstGeom prst="roundRect">
            <a:avLst>
              <a:gd name="adj" fmla="val 2093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2668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26680" y="23774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waktu mendominasi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is_weekend, day_of_week, part_of_day, dan hour adalah pendorong utama demand.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terkonfirmasi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temporal jauh lebih menentukan daripada demografi — sejalan dengan objektif bisnis penjadwalan armada.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Proses Pemodelan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5 — SKKNI Unit 11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Kesesuaian &amp; Kualitas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tahap CRISP-DM sesuai rencana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(random_state), perbandingan adil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model berbasis CV, bukan test tunggal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jujur: target R²≥0,80 dilaporkan tak tercapai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Temuan Kontrol Kualitas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&amp; diperbaiki: TargetEncoder mode auto salah mendeteksi target cacah sebagai multiclass (koridor meledak jadi 55 kolom → potensi bocor). Dikoreksi dengan target_type='continuous' lalu dilatih ulang.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4186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Keterbatasan &amp; Pengembangan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hanya 1 bulan → belum menangkap musiman tahunan / hari libur nasional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Granularitas koridor-jam memiliki batas bawah noise Poisson (rata-rata cacah ~3) → R² 0,80 sulit dilampaui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Pengembangan: data multi-bulan, fitur eksternal (cuaca, hari libur, event), uji model deret waktu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Bisnis &amp; Rekomendasi Actionable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analisis menuju keputusan operasional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92808"/>
            <a:ext cx="566928" cy="566928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1965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Penjadwalan Dinamis Armada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037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Perbanyak frekuensi di jam &amp; koridor puncak, kurangi saat lengang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90088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91693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Petugas Berbasis Prediksi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3009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Tempatkan SDM pada slot koridor-jam berdemand tinggi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87368"/>
            <a:ext cx="566928" cy="566928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01421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Akhir Pekan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3982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Sesuaikan operasi mengikuti pola akhir pekan yang jauh lebih rendah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184648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84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51114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Halte Padat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49554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perbaikan kapasitas pada klaster halte tersibuk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Aplikasi Streamlit Interaktif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6 — Deployment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halaman interaktif mengikuti alur CRISP-DM: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Beranda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603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Dataset &amp; Telaah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6324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Kualitas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6616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EDA Interaktif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6908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Peta Geospasial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720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Pemodelan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0749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Simulasi Prediksi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57784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Kesimpulan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35040" y="15727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Fitur unggulan — Simulasi Prediksi 24 Jam</a:t>
            </a:r>
            <a:endParaRPr lang="en-US" sz="1500" dirty="0"/>
          </a:p>
        </p:txBody>
      </p:sp>
      <p:pic>
        <p:nvPicPr>
          <p:cNvPr id="22" name="Image 0" descr="../assets/fig_day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965960"/>
            <a:ext cx="5760720" cy="29992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035040" y="50292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koridor + hari → model menghasilkan kurva permintaan sepanjang hari (puncak jingga = jam sibuk). Bukti model menangkap ritme operasional, bukan sekadar satu angka.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5715000"/>
            <a:ext cx="5760720" cy="594360"/>
          </a:xfrm>
          <a:prstGeom prst="roundRect">
            <a:avLst>
              <a:gd name="adj" fmla="val 1384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AAB6CC">
                <a:alpha val="3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263640" y="58064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Arsitektur: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dilatih offline (.pkl) · app memuat artefak + caching · deploy gratis di Streamlit Cloud.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572000"/>
            <a:ext cx="3657600" cy="365760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188720"/>
            <a:ext cx="3108960" cy="3108960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permintaan TransJakarta digerakkan fitur temporal (jam &amp; hari).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XGBoost-Poisson mencapai R² 0,715 &amp; MAE 1,05 pnp — memadai untuk perencanaan.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11 unit kompetensi SKKNI tercakup dalam alur CRISP-DM.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skrip Python modular + aplikasi Streamlit interaktif + presentasi ini.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484632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846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Yusuf  ·  Sertifikasi Ilmuwan Data (Data Scientist) — DSS.01.00.23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TransJakarta Demand Prediction</dc:title>
  <dc:subject>PptxGenJS Presentation</dc:subject>
  <dc:creator>Asesi BNSP</dc:creator>
  <cp:lastModifiedBy>Asesi BNSP</cp:lastModifiedBy>
  <cp:revision>1</cp:revision>
  <dcterms:created xsi:type="dcterms:W3CDTF">2026-07-17T19:40:25Z</dcterms:created>
  <dcterms:modified xsi:type="dcterms:W3CDTF">2026-07-17T19:40:25Z</dcterms:modified>
</cp:coreProperties>
</file>