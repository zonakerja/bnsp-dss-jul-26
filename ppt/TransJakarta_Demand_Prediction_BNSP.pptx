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Perkenalan: portofolio Data Scientist BNSP. Proyek memprediksi demand penumpang TransJakarta memakai machine learning, mengikuti siklus CRISP-DM penuh.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Masalah bisnis: armada vs permintaan tidak seimbang. Dataset: 189.500 transaksi, 10.000 kartu, 216 koridor pada April 2023.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Tiga objektif bisnis dan tujuan teknis (regresi). Metrik sukses: MAE operasional tercapai 1,05; R² 0,715; unggul dari baseline.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Struktur data dan enam kelompok kolom. Dua temuan penting yang menghindarkan salah pilih target.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Pola jam bimodal dan perbedaan hari kerja vs akhir pekan — dasar utama sinyal prediksi.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Distribusi koridor long-tail dan heatmap jam×hari. Membantu prioritisasi sumber daya.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Validasi kelengkapan + empat langkah pembersihan terdokumentasi dengan log before/after (bukti Unit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Fitur waktu &amp; koridor. Penekanan pada strategi anti-kebocoran — poin penting saat asesmen.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Tujuh model dibandingkan secara adil; XGBoost Poisson menang. Objektif Poisson tepat untuk data cacah.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XGBoost unggul pada semua metrik. Model non-linier jauh melampaui regresi linier.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Metrik hold-out; prediksi vs aktual dan distribusi residual menunjukkan model tak bias.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Feature importance mengonfirmasi H4: fitur waktu paling berpengaruh, mendukung keputusan penjadwalan.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Unit 11: proses sesuai &amp; berkualitas; contoh kontrol kualitas menemukan bug leakage; keterbatasan diakui jujur.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Empat rekomendasi bisnis yang dapat langsung ditindaklanjuti dari hasil model &amp; EDA.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Aplikasi 8 halaman. Arsitektur: model offline, app memuat artefak. Demo fitur simulasi real-time.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Penutup: rangkuman pencapaian, cakupan SKKNI, dan deliverable. Ucapan terima kasih.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280160"/>
            <a:ext cx="3840480" cy="3840480"/>
          </a:xfrm>
          <a:prstGeom prst="ellipse">
            <a:avLst/>
          </a:prstGeom>
          <a:solidFill>
            <a:srgbClr val="1E5AA8"/>
          </a:solidFill>
          <a:ln/>
        </p:spPr>
      </p:sp>
      <p:sp>
        <p:nvSpPr>
          <p:cNvPr id="3" name="Shape 1"/>
          <p:cNvSpPr/>
          <p:nvPr/>
        </p:nvSpPr>
        <p:spPr>
          <a:xfrm>
            <a:off x="10789920" y="4206240"/>
            <a:ext cx="2926080" cy="2926080"/>
          </a:xfrm>
          <a:prstGeom prst="ellipse">
            <a:avLst/>
          </a:prstGeom>
          <a:solidFill>
            <a:srgbClr val="F26522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6400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🚌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48640" y="1737360"/>
            <a:ext cx="9692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TransJakarta Passenger Analytics</a:t>
            </a:r>
            <a:endParaRPr lang="en-US" sz="4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&amp; Demand Prediction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42900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Analisis Pola Penumpang &amp; Prediksi Permintaan Transportasi Publik dengan Machine Learning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66928" y="4206240"/>
            <a:ext cx="5669280" cy="502920"/>
          </a:xfrm>
          <a:prstGeom prst="roundRect">
            <a:avLst>
              <a:gd name="adj" fmla="val 49091"/>
            </a:avLst>
          </a:prstGeom>
          <a:solidFill>
            <a:srgbClr val="F26522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420624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Portofolio Sertifikasi BNSP · Ilmuwan Data (DSS.01.00.23)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58521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Asesi: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Mohammad Yusuf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|     Metodologi: CRISP-DM     |     Periode data: April 2023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Latar Belakang &amp; Permasalahan Bisnis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CRISP-DM 1 — Business Understanding · SKKNI Unit 1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TransJakarta melayani jutaan perjalanan setiap bulan. Ketidakseimbangan antara ketersediaan armada dan permintaan aktual penumpang menimbulkan tiga masalah utama: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5486400" cy="914400"/>
          </a:xfrm>
          <a:prstGeom prst="roundRect">
            <a:avLst>
              <a:gd name="adj" fmla="val 9000"/>
            </a:avLst>
          </a:prstGeom>
          <a:solidFill>
            <a:srgbClr val="EAF2FB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2971800"/>
            <a:ext cx="457200" cy="457200"/>
          </a:xfrm>
          <a:prstGeom prst="ellipse">
            <a:avLst/>
          </a:prstGeom>
          <a:solidFill>
            <a:srgbClr val="F26522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971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371600" y="28620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Penumpukan di jam sibuk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71600" y="32186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Penumpang menumpuk saat armada tak cukup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794760"/>
            <a:ext cx="5486400" cy="914400"/>
          </a:xfrm>
          <a:prstGeom prst="roundRect">
            <a:avLst>
              <a:gd name="adj" fmla="val 9000"/>
            </a:avLst>
          </a:prstGeom>
          <a:solidFill>
            <a:srgbClr val="EAF2FB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77240" y="4023360"/>
            <a:ext cx="457200" cy="457200"/>
          </a:xfrm>
          <a:prstGeom prst="ellipse">
            <a:avLst/>
          </a:prstGeom>
          <a:solidFill>
            <a:srgbClr val="F26522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371600" y="39136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Armada kosong saat lengang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71600" y="427024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Utilisasi rendah di luar jam puncak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4846320"/>
            <a:ext cx="5486400" cy="914400"/>
          </a:xfrm>
          <a:prstGeom prst="roundRect">
            <a:avLst>
              <a:gd name="adj" fmla="val 9000"/>
            </a:avLst>
          </a:prstGeom>
          <a:solidFill>
            <a:srgbClr val="EAF2FB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77240" y="5074920"/>
            <a:ext cx="457200" cy="457200"/>
          </a:xfrm>
          <a:prstGeom prst="ellipse">
            <a:avLst/>
          </a:prstGeom>
          <a:solidFill>
            <a:srgbClr val="F26522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5074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71600" y="49651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Alokasi SDM tak optimal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371600" y="532180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Penempatan petugas halte tidak berbasis data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92240" y="1691640"/>
            <a:ext cx="2560320" cy="1874520"/>
          </a:xfrm>
          <a:prstGeom prst="roundRect">
            <a:avLst>
              <a:gd name="adj" fmla="val 4390"/>
            </a:avLst>
          </a:prstGeom>
          <a:solidFill>
            <a:srgbClr val="1B2A4A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92240" y="205740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189.500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6492240" y="29260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Transaksi tap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9281160" y="1691640"/>
            <a:ext cx="2560320" cy="1874520"/>
          </a:xfrm>
          <a:prstGeom prst="roundRect">
            <a:avLst>
              <a:gd name="adj" fmla="val 4390"/>
            </a:avLst>
          </a:prstGeom>
          <a:solidFill>
            <a:srgbClr val="1B2A4A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9281160" y="205740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10.000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9281160" y="29260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Kartu unik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92240" y="3840480"/>
            <a:ext cx="2560320" cy="1874520"/>
          </a:xfrm>
          <a:prstGeom prst="roundRect">
            <a:avLst>
              <a:gd name="adj" fmla="val 4390"/>
            </a:avLst>
          </a:prstGeom>
          <a:solidFill>
            <a:srgbClr val="1B2A4A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492240" y="420624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216</a:t>
            </a:r>
            <a:endParaRPr lang="en-US" sz="3000" dirty="0"/>
          </a:p>
        </p:txBody>
      </p:sp>
      <p:sp>
        <p:nvSpPr>
          <p:cNvPr id="28" name="Text 26"/>
          <p:cNvSpPr/>
          <p:nvPr/>
        </p:nvSpPr>
        <p:spPr>
          <a:xfrm>
            <a:off x="6492240" y="50749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Koridor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9281160" y="3840480"/>
            <a:ext cx="2560320" cy="1874520"/>
          </a:xfrm>
          <a:prstGeom prst="roundRect">
            <a:avLst>
              <a:gd name="adj" fmla="val 4390"/>
            </a:avLst>
          </a:prstGeom>
          <a:solidFill>
            <a:srgbClr val="1B2A4A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9281160" y="420624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April 2023</a:t>
            </a:r>
            <a:endParaRPr lang="en-US" sz="3000" dirty="0"/>
          </a:p>
        </p:txBody>
      </p:sp>
      <p:sp>
        <p:nvSpPr>
          <p:cNvPr id="31" name="Text 29"/>
          <p:cNvSpPr/>
          <p:nvPr/>
        </p:nvSpPr>
        <p:spPr>
          <a:xfrm>
            <a:off x="9281160" y="50749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Periode data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Objektif Bisnis, Metrik Sukses &amp; Tujuan Teknis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SKKNI Unit 1 &amp; 2 — Business &amp; Technical Goals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86400" cy="4480560"/>
          </a:xfrm>
          <a:prstGeom prst="roundRect">
            <a:avLst>
              <a:gd name="adj" fmla="val 1837"/>
            </a:avLst>
          </a:prstGeom>
          <a:solidFill>
            <a:srgbClr val="EAF2FB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783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5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Objektif Bisnis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24028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Memahami pola pergerakan penumpang (jam, hari, koridor, demografi)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Membangun model prediksi jumlah penumpang per koridor/jam/hari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Menyediakan alat bantu keputusan interaktif untuk perencanaan operasional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38862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5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 Tujuan Teknis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434340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Task: Supervised Regression (memprediksi cacah penumpang)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analisis: agregasi (koridor × tanggal × jam)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Kriteria: R², MAE, RMSE, MAPE pada data hold-out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92240" y="16002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Metrik Kesuksesan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492240" y="2148840"/>
            <a:ext cx="5120640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693408" y="2606040"/>
            <a:ext cx="182880" cy="182880"/>
          </a:xfrm>
          <a:prstGeom prst="ellipse">
            <a:avLst/>
          </a:prstGeom>
          <a:solidFill>
            <a:srgbClr val="F26522"/>
          </a:solidFill>
          <a:ln/>
        </p:spPr>
      </p:sp>
      <p:sp>
        <p:nvSpPr>
          <p:cNvPr id="12" name="Text 10"/>
          <p:cNvSpPr/>
          <p:nvPr/>
        </p:nvSpPr>
        <p:spPr>
          <a:xfrm>
            <a:off x="6995160" y="227685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Operasional — MAE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995160" y="26974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≤ 1,5 pnp/slot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966960" y="2404872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65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1,05  ✓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492240" y="3429000"/>
            <a:ext cx="5120640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693408" y="3886200"/>
            <a:ext cx="182880" cy="182880"/>
          </a:xfrm>
          <a:prstGeom prst="ellipse">
            <a:avLst/>
          </a:prstGeom>
          <a:solidFill>
            <a:srgbClr val="1E5AA8"/>
          </a:solidFill>
          <a:ln/>
        </p:spPr>
      </p:sp>
      <p:sp>
        <p:nvSpPr>
          <p:cNvPr id="17" name="Text 15"/>
          <p:cNvSpPr/>
          <p:nvPr/>
        </p:nvSpPr>
        <p:spPr>
          <a:xfrm>
            <a:off x="6995160" y="355701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Statistik — R²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995160" y="3977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≥ 0,70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966960" y="3685032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5A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0,715  ✓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6492240" y="4709160"/>
            <a:ext cx="5120640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693408" y="5166360"/>
            <a:ext cx="182880" cy="182880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22" name="Text 20"/>
          <p:cNvSpPr/>
          <p:nvPr/>
        </p:nvSpPr>
        <p:spPr>
          <a:xfrm>
            <a:off x="6995160" y="483717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Baseline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995160" y="52578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harus unggul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966960" y="4965192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A90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Unggul  ✓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 &amp; Telaah Data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CRISP-DM 2 — Data Understanding · SKKNI Unit 3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transaksi smart-card tap-in/tap-out TransJakarta — 22 kolom mencakup identitas transaksi, demografi kartu, koridor, halte + geolokasi, waktu, dan tarif.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3520440" cy="1234440"/>
          </a:xfrm>
          <a:prstGeom prst="roundRect">
            <a:avLst>
              <a:gd name="adj" fmla="val 6667"/>
            </a:avLst>
          </a:prstGeom>
          <a:solidFill>
            <a:srgbClr val="EAF2FB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25146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🪪 Demografi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292608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Bank, nama, gender, tahun lahir → usia (11–77 th)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51960" y="2377440"/>
            <a:ext cx="3520440" cy="1234440"/>
          </a:xfrm>
          <a:prstGeom prst="roundRect">
            <a:avLst>
              <a:gd name="adj" fmla="val 6667"/>
            </a:avLst>
          </a:prstGeom>
          <a:solidFill>
            <a:srgbClr val="EAF2FB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434840" y="25146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🚌 Koridor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434840" y="292608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216 rute: BRT, Mikrotrans (JAK), pengumpan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955280" y="2377440"/>
            <a:ext cx="3520440" cy="1234440"/>
          </a:xfrm>
          <a:prstGeom prst="roundRect">
            <a:avLst>
              <a:gd name="adj" fmla="val 6667"/>
            </a:avLst>
          </a:prstGeom>
          <a:solidFill>
            <a:srgbClr val="EAF2FB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138160" y="25146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Geolokasi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138160" y="292608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Halte tap-in &amp; tap-out + lintang/bujur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794760"/>
            <a:ext cx="3520440" cy="1234440"/>
          </a:xfrm>
          <a:prstGeom prst="roundRect">
            <a:avLst>
              <a:gd name="adj" fmla="val 6667"/>
            </a:avLst>
          </a:prstGeom>
          <a:solidFill>
            <a:srgbClr val="EAF2FB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31520" y="39319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🕐 Waktu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31520" y="434340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 tap → jam &amp; hari (fitur kunci)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251960" y="3794760"/>
            <a:ext cx="3520440" cy="1234440"/>
          </a:xfrm>
          <a:prstGeom prst="roundRect">
            <a:avLst>
              <a:gd name="adj" fmla="val 6667"/>
            </a:avLst>
          </a:prstGeom>
          <a:solidFill>
            <a:srgbClr val="EAF2FB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434840" y="39319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💳 Tarif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434840" y="434340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Rp0 (JAK gratis), Rp3.500 (BRT), Rp20.000 (premium)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955280" y="3794760"/>
            <a:ext cx="3520440" cy="1234440"/>
          </a:xfrm>
          <a:prstGeom prst="roundRect">
            <a:avLst>
              <a:gd name="adj" fmla="val 6667"/>
            </a:avLst>
          </a:prstGeom>
          <a:solidFill>
            <a:srgbClr val="1B2A4A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138160" y="39319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Target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138160" y="434340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Agregasi jumlah penumpang per koridor-jam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48640" y="53492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Temuan penting: durasi perjalanan acak (korelasi ≈ 0 dengan jarak) → tidak dijadikan target; tarif deterministik dari koridor → hanya untuk EDA.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Pola Permintaan Penumpang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— Hipotesis H1 &amp; H2 terbukti</a:t>
            </a:r>
            <a:endParaRPr lang="en-US" sz="1400" dirty="0"/>
          </a:p>
        </p:txBody>
      </p:sp>
      <p:pic>
        <p:nvPicPr>
          <p:cNvPr id="4" name="Image 0" descr="../assets/fig_hourl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08760"/>
            <a:ext cx="5852160" cy="3273552"/>
          </a:xfrm>
          <a:prstGeom prst="rect">
            <a:avLst/>
          </a:prstGeom>
        </p:spPr>
      </p:pic>
      <p:pic>
        <p:nvPicPr>
          <p:cNvPr id="5" name="Image 1" descr="../assets/fig_weekd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508760"/>
            <a:ext cx="5303520" cy="297180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5074920"/>
            <a:ext cx="11247120" cy="1234440"/>
          </a:xfrm>
          <a:prstGeom prst="roundRect">
            <a:avLst>
              <a:gd name="adj" fmla="val 6667"/>
            </a:avLst>
          </a:prstGeom>
          <a:solidFill>
            <a:srgbClr val="EAF2FB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7" name="Text 3"/>
          <p:cNvSpPr/>
          <p:nvPr/>
        </p:nvSpPr>
        <p:spPr>
          <a:xfrm>
            <a:off x="685800" y="52578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5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— Pola bimodal: </a:t>
            </a:r>
            <a:pPr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puncak tajam jam 6–7 pagi &amp; 16–17 sore.    </a:t>
            </a:r>
            <a:pPr indent="0" marL="0">
              <a:buNone/>
            </a:pPr>
            <a:r>
              <a:rPr lang="en-US" sz="1500" b="1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— Hari kerja ±3,7× lebih ramai </a:t>
            </a:r>
            <a:pPr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dibanding akhir pekan.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Konsentrasi Koridor &amp; Kepadatan Waktu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— Hipotesis H3 terbukti (distribusi long-tail)</a:t>
            </a:r>
            <a:endParaRPr lang="en-US" sz="1400" dirty="0"/>
          </a:p>
        </p:txBody>
      </p:sp>
      <p:pic>
        <p:nvPicPr>
          <p:cNvPr id="4" name="Image 0" descr="../assets/fig_top_corrido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54480"/>
            <a:ext cx="5669280" cy="3172968"/>
          </a:xfrm>
          <a:prstGeom prst="rect">
            <a:avLst/>
          </a:prstGeom>
        </p:spPr>
      </p:pic>
      <p:pic>
        <p:nvPicPr>
          <p:cNvPr id="5" name="Image 1" descr="../assets/fig_heatm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554480"/>
            <a:ext cx="5303520" cy="297180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5029200"/>
            <a:ext cx="11247120" cy="1234440"/>
          </a:xfrm>
          <a:prstGeom prst="roundRect">
            <a:avLst>
              <a:gd name="adj" fmla="val 6667"/>
            </a:avLst>
          </a:prstGeom>
          <a:solidFill>
            <a:srgbClr val="EAF2FB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7" name="Text 3"/>
          <p:cNvSpPr/>
          <p:nvPr/>
        </p:nvSpPr>
        <p:spPr>
          <a:xfrm>
            <a:off x="685800" y="521208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5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H3 — Long-tail: </a:t>
            </a:r>
            <a:pPr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sebagian kecil koridor menyerap mayoritas penumpang. Heatmap menegaskan blok padat pada jam sibuk hari kerja — kandidat prioritas armada &amp; petugas.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Validasi &amp; Pembersihan Data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CRISP-DM 3 — Data Preparation · SKKNI Unit 4–6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560320" cy="1371600"/>
          </a:xfrm>
          <a:prstGeom prst="roundRect">
            <a:avLst>
              <a:gd name="adj" fmla="val 6000"/>
            </a:avLst>
          </a:prstGeom>
          <a:solidFill>
            <a:srgbClr val="1B2A4A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178308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81,25%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48640" y="24688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Baris lengkap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337560" y="1600200"/>
            <a:ext cx="2560320" cy="1371600"/>
          </a:xfrm>
          <a:prstGeom prst="roundRect">
            <a:avLst>
              <a:gd name="adj" fmla="val 6000"/>
            </a:avLst>
          </a:prstGeom>
          <a:solidFill>
            <a:srgbClr val="EAF2FB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337560" y="178308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5A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3337560" y="24688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Duplikat transID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0" y="1600200"/>
            <a:ext cx="2560320" cy="1371600"/>
          </a:xfrm>
          <a:prstGeom prst="roundRect">
            <a:avLst>
              <a:gd name="adj" fmla="val 6000"/>
            </a:avLst>
          </a:prstGeom>
          <a:solidFill>
            <a:srgbClr val="EAF2FB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126480" y="178308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5A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6.720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6126480" y="24688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Perjalanan tak lengkap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915400" y="1600200"/>
            <a:ext cx="2560320" cy="1371600"/>
          </a:xfrm>
          <a:prstGeom prst="roundRect">
            <a:avLst>
              <a:gd name="adj" fmla="val 6000"/>
            </a:avLst>
          </a:prstGeom>
          <a:solidFill>
            <a:srgbClr val="EAF2FB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915400" y="178308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5A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8915400" y="24688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Koordinat invalid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48640" y="32461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Strategi Pembersihan (dengan log before → after)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66928" y="3749040"/>
            <a:ext cx="457200" cy="457200"/>
          </a:xfrm>
          <a:prstGeom prst="ellipse">
            <a:avLst/>
          </a:prstGeom>
          <a:solidFill>
            <a:srgbClr val="F26522"/>
          </a:solidFill>
          <a:ln/>
        </p:spPr>
      </p:sp>
      <p:sp>
        <p:nvSpPr>
          <p:cNvPr id="18" name="Text 16"/>
          <p:cNvSpPr/>
          <p:nvPr/>
        </p:nvSpPr>
        <p:spPr>
          <a:xfrm>
            <a:off x="566928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88720" y="376732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Duplikasi transID — </a:t>
            </a:r>
            <a:pPr indent="0" marL="0">
              <a:buNone/>
            </a:pPr>
            <a:r>
              <a:rPr lang="en-US" sz="135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Dibuang untuk integritas transaksi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4407408"/>
            <a:ext cx="457200" cy="457200"/>
          </a:xfrm>
          <a:prstGeom prst="ellipse">
            <a:avLst/>
          </a:prstGeom>
          <a:solidFill>
            <a:srgbClr val="F26522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4407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188720" y="4425696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Koridor kosong (20.508 sel) — </a:t>
            </a:r>
            <a:pPr indent="0" marL="0">
              <a:buNone/>
            </a:pPr>
            <a:r>
              <a:rPr lang="en-US" sz="135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Diisi label 'Unknown' agar tetap teragregasi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566928" y="5065776"/>
            <a:ext cx="457200" cy="457200"/>
          </a:xfrm>
          <a:prstGeom prst="ellipse">
            <a:avLst/>
          </a:prstGeom>
          <a:solidFill>
            <a:srgbClr val="F26522"/>
          </a:solidFill>
          <a:ln/>
        </p:spPr>
      </p:sp>
      <p:sp>
        <p:nvSpPr>
          <p:cNvPr id="24" name="Text 22"/>
          <p:cNvSpPr/>
          <p:nvPr/>
        </p:nvSpPr>
        <p:spPr>
          <a:xfrm>
            <a:off x="566928" y="50657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188720" y="5084064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Usia tidak masuk akal — </a:t>
            </a:r>
            <a:pPr indent="0" marL="0">
              <a:buNone/>
            </a:pPr>
            <a:r>
              <a:rPr lang="en-US" sz="135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Dikoreksi ke NaN (baris dipertahankan)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566928" y="5724144"/>
            <a:ext cx="457200" cy="457200"/>
          </a:xfrm>
          <a:prstGeom prst="ellipse">
            <a:avLst/>
          </a:prstGeom>
          <a:solidFill>
            <a:srgbClr val="F26522"/>
          </a:solidFill>
          <a:ln/>
        </p:spPr>
      </p:sp>
      <p:sp>
        <p:nvSpPr>
          <p:cNvPr id="27" name="Text 25"/>
          <p:cNvSpPr/>
          <p:nvPr/>
        </p:nvSpPr>
        <p:spPr>
          <a:xfrm>
            <a:off x="566928" y="57241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188720" y="5742432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Perjalanan tanpa tap-out — </a:t>
            </a:r>
            <a:pPr indent="0" marL="0">
              <a:buNone/>
            </a:pPr>
            <a:r>
              <a:rPr lang="en-US" sz="135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Ditandai; tetap dipakai untuk model demand (basis tap-in)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Engineering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CRISP-DM 3 — Konstruksi Data · SKKNI Unit 7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64240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8562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🕐 Fitur Waktu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80560" y="1856232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 · day_of_week · day_name · is_weekend · is_peak · part_of_day · week_of_month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2971800"/>
            <a:ext cx="11064240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31363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🚌 Fitur Koridor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480560" y="3136392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corridorID (target-encoded, cross-fitted) · corridor_type (one-hot)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4251960"/>
            <a:ext cx="11064240" cy="1097280"/>
          </a:xfrm>
          <a:prstGeom prst="roundRect">
            <a:avLst>
              <a:gd name="adj" fmla="val 7500"/>
            </a:avLst>
          </a:prstGeom>
          <a:solidFill>
            <a:srgbClr val="1E5AA8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2960" y="441655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Transformasi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480560" y="4416552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Agregasi ke (koridor × tanggal × jam) → target passenger_count = 61.730 slot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5623560"/>
            <a:ext cx="11064240" cy="777240"/>
          </a:xfrm>
          <a:prstGeom prst="roundRect">
            <a:avLst>
              <a:gd name="adj" fmla="val 10588"/>
            </a:avLst>
          </a:prstGeom>
          <a:solidFill>
            <a:srgbClr val="24344F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77240" y="574243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🛡️ Anti-kebocoran: </a:t>
            </a:r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fitur demografi per-slot sengaja diabaikan (baru diketahui setelah tap); demand historis koridor ditangani TargetEncoder ber-cross-fitting, bukan rata-rata manual.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Skenario Pemodelan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CRISP-DM 4 — Modeling · SKKNI Unit 8 &amp; 9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Tujuh model kandidat dibandingkan pada pipeline &amp; split identik (80/20), diseleksi via cross-validation 3-fold, lalu pemenang dioptimasi (RandomizedSearchCV).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2606040" cy="868680"/>
          </a:xfrm>
          <a:prstGeom prst="roundRect">
            <a:avLst>
              <a:gd name="adj" fmla="val 9474"/>
            </a:avLst>
          </a:prstGeom>
          <a:solidFill>
            <a:srgbClr val="EAF2FB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2377440"/>
            <a:ext cx="2423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(Rata-rata)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3337560" y="2377440"/>
            <a:ext cx="2606040" cy="868680"/>
          </a:xfrm>
          <a:prstGeom prst="roundRect">
            <a:avLst>
              <a:gd name="adj" fmla="val 9474"/>
            </a:avLst>
          </a:prstGeom>
          <a:solidFill>
            <a:srgbClr val="EAF2FB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29000" y="2377440"/>
            <a:ext cx="2423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Regresi Linier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126480" y="2377440"/>
            <a:ext cx="2606040" cy="868680"/>
          </a:xfrm>
          <a:prstGeom prst="roundRect">
            <a:avLst>
              <a:gd name="adj" fmla="val 9474"/>
            </a:avLst>
          </a:prstGeom>
          <a:solidFill>
            <a:srgbClr val="EAF2FB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217920" y="2377440"/>
            <a:ext cx="2423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915400" y="2377440"/>
            <a:ext cx="2606040" cy="868680"/>
          </a:xfrm>
          <a:prstGeom prst="roundRect">
            <a:avLst>
              <a:gd name="adj" fmla="val 9474"/>
            </a:avLst>
          </a:prstGeom>
          <a:solidFill>
            <a:srgbClr val="EAF2FB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9006840" y="2377440"/>
            <a:ext cx="2423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Tree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3429000"/>
            <a:ext cx="2606040" cy="868680"/>
          </a:xfrm>
          <a:prstGeom prst="roundRect">
            <a:avLst>
              <a:gd name="adj" fmla="val 9474"/>
            </a:avLst>
          </a:prstGeom>
          <a:solidFill>
            <a:srgbClr val="EAF2FB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0080" y="3429000"/>
            <a:ext cx="2423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337560" y="3429000"/>
            <a:ext cx="2606040" cy="868680"/>
          </a:xfrm>
          <a:prstGeom prst="roundRect">
            <a:avLst>
              <a:gd name="adj" fmla="val 9474"/>
            </a:avLst>
          </a:prstGeom>
          <a:solidFill>
            <a:srgbClr val="EAF2FB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429000" y="3429000"/>
            <a:ext cx="2423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Boosting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126480" y="3429000"/>
            <a:ext cx="2606040" cy="868680"/>
          </a:xfrm>
          <a:prstGeom prst="roundRect">
            <a:avLst>
              <a:gd name="adj" fmla="val 9474"/>
            </a:avLst>
          </a:prstGeom>
          <a:solidFill>
            <a:srgbClr val="F26522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217920" y="3429000"/>
            <a:ext cx="2423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(Poisson)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8915400" y="3429000"/>
            <a:ext cx="2697480" cy="2103120"/>
          </a:xfrm>
          <a:prstGeom prst="roundRect">
            <a:avLst>
              <a:gd name="adj" fmla="val 3913"/>
            </a:avLst>
          </a:prstGeom>
          <a:solidFill>
            <a:srgbClr val="1B2A4A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915400" y="361188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⭐ Pemenang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15400" y="397764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XGBoost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8915400" y="4526280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=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count:poisson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48640" y="3703320"/>
            <a:ext cx="8138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Objektif Poisson dipilih karena target berupa data cacah (count) — lebih tepat secara statistik dan tak menghasilkan prediksi negatif.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Perbandingan Model &amp; Pemilihan Terbaik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SKKNI Unit 9 — evaluasi adil antar kandidat</a:t>
            </a:r>
            <a:endParaRPr lang="en-US" sz="1400" dirty="0"/>
          </a:p>
        </p:txBody>
      </p:sp>
      <p:pic>
        <p:nvPicPr>
          <p:cNvPr id="4" name="Image 0" descr="../assets/fig_model_com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54480"/>
            <a:ext cx="6949440" cy="389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680960" y="16916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R² per Model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7680960" y="2240280"/>
            <a:ext cx="3931920" cy="566928"/>
          </a:xfrm>
          <a:prstGeom prst="roundRect">
            <a:avLst>
              <a:gd name="adj" fmla="val 14516"/>
            </a:avLst>
          </a:prstGeom>
          <a:solidFill>
            <a:srgbClr val="F26522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863840" y="22402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10332720" y="2240280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0,735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680960" y="2926080"/>
            <a:ext cx="3931920" cy="566928"/>
          </a:xfrm>
          <a:prstGeom prst="roundRect">
            <a:avLst>
              <a:gd name="adj" fmla="val 14516"/>
            </a:avLst>
          </a:prstGeom>
          <a:solidFill>
            <a:srgbClr val="EAF2FB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863840" y="29260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10332720" y="2926080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5A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0,727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7680960" y="3611880"/>
            <a:ext cx="3931920" cy="566928"/>
          </a:xfrm>
          <a:prstGeom prst="roundRect">
            <a:avLst>
              <a:gd name="adj" fmla="val 14516"/>
            </a:avLst>
          </a:prstGeom>
          <a:solidFill>
            <a:srgbClr val="EAF2FB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863840" y="36118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Boosting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10332720" y="3611880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5A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0,687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7680960" y="4297680"/>
            <a:ext cx="3931920" cy="566928"/>
          </a:xfrm>
          <a:prstGeom prst="roundRect">
            <a:avLst>
              <a:gd name="adj" fmla="val 14516"/>
            </a:avLst>
          </a:prstGeom>
          <a:solidFill>
            <a:srgbClr val="EAF2FB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7863840" y="42976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Tree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10332720" y="4297680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5A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0,664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7680960" y="4983480"/>
            <a:ext cx="3931920" cy="566928"/>
          </a:xfrm>
          <a:prstGeom prst="roundRect">
            <a:avLst>
              <a:gd name="adj" fmla="val 14516"/>
            </a:avLst>
          </a:prstGeom>
          <a:solidFill>
            <a:srgbClr val="EAF2FB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7863840" y="4983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Regresi Linier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10332720" y="4983480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5A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0,420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7680960" y="571500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tree-based mengungguli regresi linier karena hubungan fitur–target non-linier (efek jam &amp; hari).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Evaluasi Model pada Data Hold-out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CRISP-DM 5 — Evaluation · SKKNI Unit 10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691640" cy="1280160"/>
          </a:xfrm>
          <a:prstGeom prst="roundRect">
            <a:avLst>
              <a:gd name="adj" fmla="val 6429"/>
            </a:avLst>
          </a:prstGeom>
          <a:solidFill>
            <a:srgbClr val="1B2A4A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173736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0,715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23317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(Test)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423160" y="1554480"/>
            <a:ext cx="1691640" cy="1280160"/>
          </a:xfrm>
          <a:prstGeom prst="roundRect">
            <a:avLst>
              <a:gd name="adj" fmla="val 6429"/>
            </a:avLst>
          </a:prstGeom>
          <a:solidFill>
            <a:srgbClr val="1B2A4A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423160" y="173736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1,05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2423160" y="23317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(pnp)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97680" y="1554480"/>
            <a:ext cx="1691640" cy="1280160"/>
          </a:xfrm>
          <a:prstGeom prst="roundRect">
            <a:avLst>
              <a:gd name="adj" fmla="val 6429"/>
            </a:avLst>
          </a:prstGeom>
          <a:solidFill>
            <a:srgbClr val="1B2A4A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297680" y="173736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1,47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297680" y="23317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(pnp)</a:t>
            </a:r>
            <a:endParaRPr lang="en-US" sz="1200" dirty="0"/>
          </a:p>
        </p:txBody>
      </p:sp>
      <p:pic>
        <p:nvPicPr>
          <p:cNvPr id="13" name="Image 0" descr="../assets/fig_pred_actu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017520"/>
            <a:ext cx="5669280" cy="3172968"/>
          </a:xfrm>
          <a:prstGeom prst="rect">
            <a:avLst/>
          </a:prstGeom>
        </p:spPr>
      </p:pic>
      <p:pic>
        <p:nvPicPr>
          <p:cNvPr id="14" name="Image 1" descr="../assets/fig_residu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3017520"/>
            <a:ext cx="5486400" cy="3072384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6263640" y="173736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Titik mengumpul di sekitar garis ideal; residual terpusat di nol tanpa bias sistematis.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Faktor Pendorong Permintaan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Importance — Hipotesis H4 terbukti</a:t>
            </a:r>
            <a:endParaRPr lang="en-US" sz="1400" dirty="0"/>
          </a:p>
        </p:txBody>
      </p:sp>
      <p:pic>
        <p:nvPicPr>
          <p:cNvPr id="4" name="Image 0" descr="../assets/fig_import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54480"/>
            <a:ext cx="6766560" cy="378561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498080" y="1737360"/>
            <a:ext cx="4206240" cy="3931920"/>
          </a:xfrm>
          <a:prstGeom prst="roundRect">
            <a:avLst>
              <a:gd name="adj" fmla="val 2093"/>
            </a:avLst>
          </a:prstGeom>
          <a:solidFill>
            <a:srgbClr val="EAF2FB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726680" y="19202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5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Insight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7726680" y="2377440"/>
            <a:ext cx="38404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Fitur waktu mendominasi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is_weekend, day_of_week, part_of_day, dan hour adalah pendorong utama demand.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H4 terkonfirmasi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Pola temporal jauh lebih menentukan daripada demografi — sejalan dengan objektif bisnis penjadwalan armada.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 Proses Pemodelan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CRISP-DM 5 — SKKNI Unit 11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86400" cy="2103120"/>
          </a:xfrm>
          <a:prstGeom prst="roundRect">
            <a:avLst>
              <a:gd name="adj" fmla="val 3913"/>
            </a:avLst>
          </a:prstGeom>
          <a:solidFill>
            <a:srgbClr val="EAF2FB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783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5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Kesesuaian &amp; Kualitas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224028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Seluruh tahap CRISP-DM sesuai rencana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 (random_state), perbandingan adil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Pemilihan model berbasis CV, bukan test tunggal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Evaluasi jujur: target R²≥0,80 dilaporkan tak tercapai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17920" y="160020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1B2A4A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46520" y="17830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🔎 Temuan Kontrol Kualitas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46520" y="224028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Ditemukan &amp; diperbaiki: TargetEncoder mode auto salah mendeteksi target cacah sebagai multiclass (koridor meledak jadi 55 kolom → potensi bocor). Dikoreksi dengan target_type='continuous' lalu dilatih ulang.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3977640"/>
            <a:ext cx="11064240" cy="1965960"/>
          </a:xfrm>
          <a:prstGeom prst="roundRect">
            <a:avLst>
              <a:gd name="adj" fmla="val 4186"/>
            </a:avLst>
          </a:prstGeom>
          <a:solidFill>
            <a:srgbClr val="EAF2FB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77240" y="4160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5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Keterbatasan &amp; Pengembangan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2960" y="461772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hanya 1 bulan → belum menangkap musiman tahunan / hari libur nasional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Granularitas koridor-jam memiliki batas bawah noise Poisson (rata-rata cacah ~3) → R² 0,80 sulit dilampaui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Pengembangan: data multi-bulan, fitur eksternal (cuaca, hari libur, event), uji model deret waktu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Insight Bisnis &amp; Rekomendasi Actionable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Dari analisis menuju keputusan operasional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64240" cy="960120"/>
          </a:xfrm>
          <a:prstGeom prst="roundRect">
            <a:avLst>
              <a:gd name="adj" fmla="val 8571"/>
            </a:avLst>
          </a:prstGeom>
          <a:solidFill>
            <a:srgbClr val="EAF2FB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892808"/>
            <a:ext cx="566928" cy="566928"/>
          </a:xfrm>
          <a:prstGeom prst="ellipse">
            <a:avLst/>
          </a:prstGeom>
          <a:solidFill>
            <a:srgbClr val="1E5AA8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8928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🚍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554480" y="1819656"/>
            <a:ext cx="9784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Penjadwalan Dinamis Armada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54480" y="2203704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Perbanyak frekuensi di jam &amp; koridor puncak, kurangi saat lengang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788920"/>
            <a:ext cx="11064240" cy="9601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7240" y="2990088"/>
            <a:ext cx="566928" cy="566928"/>
          </a:xfrm>
          <a:prstGeom prst="ellipse">
            <a:avLst/>
          </a:prstGeom>
          <a:solidFill>
            <a:srgbClr val="F26522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9900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👷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554480" y="2916936"/>
            <a:ext cx="9784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Alokasi Petugas Berbasis Prediksi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554480" y="3300984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Tempatkan SDM pada slot koridor-jam berdemand tinggi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886200"/>
            <a:ext cx="11064240" cy="960120"/>
          </a:xfrm>
          <a:prstGeom prst="roundRect">
            <a:avLst>
              <a:gd name="adj" fmla="val 8571"/>
            </a:avLst>
          </a:prstGeom>
          <a:solidFill>
            <a:srgbClr val="EAF2FB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" y="4087368"/>
            <a:ext cx="566928" cy="566928"/>
          </a:xfrm>
          <a:prstGeom prst="ellipse">
            <a:avLst/>
          </a:prstGeom>
          <a:solidFill>
            <a:srgbClr val="1E5AA8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40873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📅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554480" y="4014216"/>
            <a:ext cx="9784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Manajemen Akhir Pekan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554480" y="4398264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Sesuaikan operasi mengikuti pola akhir pekan yang jauh lebih rendah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4983480"/>
            <a:ext cx="11064240" cy="9601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7240" y="5184648"/>
            <a:ext cx="566928" cy="566928"/>
          </a:xfrm>
          <a:prstGeom prst="ellipse">
            <a:avLst/>
          </a:prstGeom>
          <a:solidFill>
            <a:srgbClr val="F26522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5184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🏗️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554480" y="5111496"/>
            <a:ext cx="9784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Prioritas Halte Padat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554480" y="5495544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Fokus perbaikan kapasitas pada klaster halte tersibuk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Deployment — Aplikasi Streamlit Interaktif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CRISP-DM 6 — Deployment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halaman interaktif mengikuti alur CRISP-DM: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5212080" cy="420624"/>
          </a:xfrm>
          <a:prstGeom prst="roundRect">
            <a:avLst>
              <a:gd name="adj" fmla="val 13043"/>
            </a:avLst>
          </a:prstGeom>
          <a:solidFill>
            <a:srgbClr val="EAF2FB"/>
          </a:solidFill>
          <a:ln w="12700">
            <a:solidFill>
              <a:srgbClr val="EAF2F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205740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🏠 Beranda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2560320"/>
            <a:ext cx="521208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EAF2F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56032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📂 Dataset &amp; Telaah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3063240"/>
            <a:ext cx="5212080" cy="420624"/>
          </a:xfrm>
          <a:prstGeom prst="roundRect">
            <a:avLst>
              <a:gd name="adj" fmla="val 13043"/>
            </a:avLst>
          </a:prstGeom>
          <a:solidFill>
            <a:srgbClr val="EAF2FB"/>
          </a:solidFill>
          <a:ln w="12700">
            <a:solidFill>
              <a:srgbClr val="EAF2F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06324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Kualitas Data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48640" y="3566160"/>
            <a:ext cx="521208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EAF2F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356616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EDA Interaktif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069080"/>
            <a:ext cx="5212080" cy="420624"/>
          </a:xfrm>
          <a:prstGeom prst="roundRect">
            <a:avLst>
              <a:gd name="adj" fmla="val 13043"/>
            </a:avLst>
          </a:prstGeom>
          <a:solidFill>
            <a:srgbClr val="EAF2FB"/>
          </a:solidFill>
          <a:ln w="12700">
            <a:solidFill>
              <a:srgbClr val="EAF2F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406908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🗺️ Peta Geospasial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48640" y="4572000"/>
            <a:ext cx="521208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EAF2F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457200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Pemodelan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48640" y="5074920"/>
            <a:ext cx="5212080" cy="420624"/>
          </a:xfrm>
          <a:prstGeom prst="roundRect">
            <a:avLst>
              <a:gd name="adj" fmla="val 13043"/>
            </a:avLst>
          </a:prstGeom>
          <a:solidFill>
            <a:srgbClr val="EAF2FB"/>
          </a:solidFill>
          <a:ln w="12700">
            <a:solidFill>
              <a:srgbClr val="EAF2F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507492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Simulasi Prediksi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48640" y="5577840"/>
            <a:ext cx="521208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EAF2F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557784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Kesimpulan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126480" y="1554480"/>
            <a:ext cx="5486400" cy="4663440"/>
          </a:xfrm>
          <a:prstGeom prst="roundRect">
            <a:avLst>
              <a:gd name="adj" fmla="val 1765"/>
            </a:avLst>
          </a:prstGeom>
          <a:solidFill>
            <a:srgbClr val="1B2A4A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355080" y="1783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Arsitektur Deploy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400800" y="2331720"/>
            <a:ext cx="4937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dilatih offline → disimpan demand_model.pkl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Aplikasi hanya memuat artefak → ringan &amp; cepat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Caching Streamlit (@st.cache_data / _resource)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konsisten biru–putih–jingga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gratis ke Streamlit Community Cloud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355080" y="5074920"/>
            <a:ext cx="5029200" cy="868680"/>
          </a:xfrm>
          <a:prstGeom prst="roundRect">
            <a:avLst>
              <a:gd name="adj" fmla="val 10526"/>
            </a:avLst>
          </a:prstGeom>
          <a:solidFill>
            <a:srgbClr val="F26522"/>
          </a:solidFill>
          <a:ln/>
        </p:spPr>
      </p:sp>
      <p:sp>
        <p:nvSpPr>
          <p:cNvPr id="25" name="Text 23"/>
          <p:cNvSpPr/>
          <p:nvPr/>
        </p:nvSpPr>
        <p:spPr>
          <a:xfrm>
            <a:off x="6355080" y="507492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Fitur unggulan: Simulasi prediksi real-time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pilih koridor + hari + jam → estimasi penumpang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4572000"/>
            <a:ext cx="3657600" cy="3657600"/>
          </a:xfrm>
          <a:prstGeom prst="ellipse">
            <a:avLst/>
          </a:prstGeom>
          <a:solidFill>
            <a:srgbClr val="1E5AA8"/>
          </a:solidFill>
          <a:ln/>
        </p:spPr>
      </p:sp>
      <p:sp>
        <p:nvSpPr>
          <p:cNvPr id="3" name="Shape 1"/>
          <p:cNvSpPr/>
          <p:nvPr/>
        </p:nvSpPr>
        <p:spPr>
          <a:xfrm>
            <a:off x="10515600" y="-1188720"/>
            <a:ext cx="3108960" cy="3108960"/>
          </a:xfrm>
          <a:prstGeom prst="ellipse">
            <a:avLst/>
          </a:prstGeom>
          <a:solidFill>
            <a:srgbClr val="F2652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0058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Kesimpulan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85800" y="2103120"/>
            <a:ext cx="10424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Pola permintaan TransJakarta digerakkan fitur temporal (jam &amp; hari).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XGBoost-Poisson mencapai R² 0,715 &amp; MAE 1,05 pnp — memadai untuk perencanaan.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Seluruh 11 unit kompetensi SKKNI tercakup dalam alur CRISP-DM.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Deliverable: skrip Python modular + aplikasi Streamlit interaktif + presentasi ini.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58368" y="4846320"/>
            <a:ext cx="4206240" cy="548640"/>
          </a:xfrm>
          <a:prstGeom prst="roundRect">
            <a:avLst>
              <a:gd name="adj" fmla="val 50000"/>
            </a:avLst>
          </a:prstGeom>
          <a:solidFill>
            <a:srgbClr val="F26522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" y="484632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Terima kasih 🙏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8580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Mohammad Yusuf  ·  Sertifikasi Ilmuwan Data (Data Scientist) — DSS.01.00.23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TransJakarta Demand Prediction</dc:title>
  <dc:subject>PptxGenJS Presentation</dc:subject>
  <dc:creator>Asesi BNSP</dc:creator>
  <cp:lastModifiedBy>Asesi BNSP</cp:lastModifiedBy>
  <cp:revision>1</cp:revision>
  <dcterms:created xsi:type="dcterms:W3CDTF">2026-07-17T19:21:23Z</dcterms:created>
  <dcterms:modified xsi:type="dcterms:W3CDTF">2026-07-17T19:21:23Z</dcterms:modified>
</cp:coreProperties>
</file>