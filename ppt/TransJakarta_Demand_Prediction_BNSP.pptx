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Perkenalan: portofolio Data Scientist BNSP. Proyek memprediksi demand penumpang TransJakarta memakai machine learning, mengikuti siklus CRISP-DM penuh.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Masalah bisnis: armada vs permintaan tidak seimbang. Dataset: 189.500 transaksi, 10.000 kartu, 216 koridor pada April 2023.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objektif bisnis dan tujuan teknis (regresi). Metrik sukses: MAE operasional tercapai 1,05; R² 0,715; unggul dari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Struktur data dan enam kelompok kolom. Dua temuan penting yang menghindarkan salah pilih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Pola jam bimodal dan perbedaan hari kerja vs akhir pekan — dasar utama sinyal prediksi.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Distribusi koridor long-tail dan heatmap jam×hari. Membantu prioritisasi sumber daya.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Analisis OD: konsep bangkitan (produksi) &amp; tarikan (atraksi). Net flow mengidentifikasi halte penghasil vs penarik — memandu penempatan armada. Terminal &amp; pusat kegiatan tampil sebagai penarik.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Validasi kelengkapan + empat langkah pembersihan terdokumentasi dengan log before/after (bukti Unit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Fitur waktu &amp; koridor. Penekanan pada strategi anti-kebocoran — poin penting saat asesmen.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Tujuh model dibandingkan secara adil; XGBoost Poisson menang. Objektif Poisson tepat untuk data cacah. Skenario uji CV 3-fold + tuning.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unggul pada semua metrik. Model non-linier jauh melampaui regresi linier.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Metrik hold-out; prediksi vs aktual dan distribusi residual menunjukkan model tak bias.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importance mengonfirmasi H4: fitur waktu paling berpengaruh, mendukung keputusan penjadwalan.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Unit 11: proses sesuai &amp; berkualitas; contoh kontrol kualitas menemukan bug leakage; keterbatasan diakui jujur.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rekomendasi bisnis yang dapat langsung ditindaklanjuti dari hasil model, EDA, dan analisis 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Aplikasi 9 halaman. Fitur unggulan: simulasi menghasilkan kurva demand 24 jam. Arsitektur: model offline, app memuat artefak, deploy di Streamlit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Penutup: rangkuman pencapaian termasuk analisis OD, cakupan SKKNI, dan deliverable. Ucapan terima kasih.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206240" cy="420624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97680"/>
            <a:ext cx="2926080" cy="29260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1051560" cy="105156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dirty="0">
                <a:solidFill>
                  <a:srgbClr val="000000"/>
                </a:solidFill>
              </a:rPr>
              <a:t>🚌</a:t>
            </a:r>
            <a:endParaRPr lang="en-US" sz="368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TransJakarta Passenger Analytics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Demand Prediction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66928" y="35204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Pola Penumpang &amp; Prediksi Permintaan Transportasi Publik dengan Machine Learning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4421124"/>
            <a:ext cx="420624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064" y="434340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63624" y="434340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15184" y="434340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6744" y="4343400"/>
            <a:ext cx="164592" cy="164592"/>
          </a:xfrm>
          <a:prstGeom prst="ellipse">
            <a:avLst/>
          </a:prstGeom>
          <a:solidFill>
            <a:srgbClr val="F2652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18304" y="434340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4800600"/>
            <a:ext cx="6035040" cy="548640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8006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Portofolio Sertifikasi BNSP · Ilmuwan Data (DSS.01.00.23)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Asesi: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Yusuf</a:t>
            </a:r>
            <a:pPr indent="0" marL="0">
              <a:buNone/>
            </a:pPr>
            <a:r>
              <a:rPr lang="en-US" sz="1400" dirty="0">
                <a:solidFill>
                  <a:srgbClr val="9FB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|     Metodologi: CRISP-DM     |     Periode data: April 2023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&amp; Permasalahan Bisnis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1 — Business Understanding · SKKNI Unit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TransJakarta melayani jutaan perjalanan setiap bulan. Ketidakseimbangan antara ketersediaan armada dan permintaan aktual penumpang menimbulkan tiga masalah utama: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008376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08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17320" y="2898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Penumpukan di jam sibuk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Penumpang menumpuk saat armada tak cukup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059936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3950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Armada kosong saat lengang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4325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Utilisasi rendah di luar jam puncak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557784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5111496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111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17320" y="5001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SDM tak optimal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376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petugas halte tidak berbasis data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2560320" cy="1920240"/>
          </a:xfrm>
          <a:prstGeom prst="roundRect">
            <a:avLst>
              <a:gd name="adj" fmla="val 4286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21214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189.500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537960" y="29992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tap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326880" y="1737360"/>
            <a:ext cx="2560320" cy="1920240"/>
          </a:xfrm>
          <a:prstGeom prst="roundRect">
            <a:avLst>
              <a:gd name="adj" fmla="val 4286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0" y="21214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9326880" y="29992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unik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37960" y="3931920"/>
            <a:ext cx="2560320" cy="1920240"/>
          </a:xfrm>
          <a:prstGeom prst="roundRect">
            <a:avLst>
              <a:gd name="adj" fmla="val 4286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37960" y="431596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216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6537960" y="5193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Koridor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26880" y="3931920"/>
            <a:ext cx="2560320" cy="1920240"/>
          </a:xfrm>
          <a:prstGeom prst="roundRect">
            <a:avLst>
              <a:gd name="adj" fmla="val 4286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326880" y="431596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April 2023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9326880" y="5193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 data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Objektif Bisnis, Metrik Sukses &amp; Tujuan Teknis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SKKNI Unit 1 &amp; 2 — Business &amp; Technical Goals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532120" cy="4434840"/>
          </a:xfrm>
          <a:prstGeom prst="roundRect">
            <a:avLst>
              <a:gd name="adj" fmla="val 185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Objektif Bisnis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Memahami pola pergerakan penumpang (jam, hari, koridor, demografi)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Membangun model prediksi jumlah penumpang per koridor/jam/hari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Menyediakan alat bantu keputusan interaktif untuk perencanaan operasional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Tujuan Teknis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Supervised Regression (memprediksi cacah penumpang)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analisis: agregasi (koridor × tanggal × jam)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Kriteria: R², MAE, RMSE, MAPE pada data hold-out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16459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 Kesuksesan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37960" y="2194560"/>
            <a:ext cx="507492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48272" y="2615184"/>
            <a:ext cx="274320" cy="27432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4" name="Text 12"/>
          <p:cNvSpPr/>
          <p:nvPr/>
        </p:nvSpPr>
        <p:spPr>
          <a:xfrm>
            <a:off x="6748272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7178040" y="232257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— MAE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7804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≤ 1,5 pnp/slot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12680" y="24505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5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1,05  ✓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537960" y="3493008"/>
            <a:ext cx="507492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48272" y="3913632"/>
            <a:ext cx="274320" cy="27432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20" name="Text 18"/>
          <p:cNvSpPr/>
          <p:nvPr/>
        </p:nvSpPr>
        <p:spPr>
          <a:xfrm>
            <a:off x="674827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178040" y="362102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— R²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78040" y="4059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≥ 0,70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1268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0,715  ✓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537960" y="4791456"/>
            <a:ext cx="507492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48272" y="5212080"/>
            <a:ext cx="274320" cy="2743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6" name="Text 24"/>
          <p:cNvSpPr/>
          <p:nvPr/>
        </p:nvSpPr>
        <p:spPr>
          <a:xfrm>
            <a:off x="6748272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7178040" y="49194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Baseline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78040" y="535838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harus unggul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12680" y="50474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90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Unggul  ✓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Telaah Data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2 — Data Understanding · SKKNI Unit 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transaksi smart-card tap-in/tap-out TransJakarta — 22 kolom mencakup identitas transaksi, demografi kartu, koridor, halte + geolokasi, waktu, dan tarif.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🪪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371600" y="2514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Demografi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0449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Bank, nama, gender, tahun lahir → usia (11–77 th)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51960" y="233172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5146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🚌</a:t>
            </a:r>
            <a:endParaRPr lang="en-US" sz="1760" dirty="0"/>
          </a:p>
        </p:txBody>
      </p:sp>
      <p:sp>
        <p:nvSpPr>
          <p:cNvPr id="15" name="Text 13"/>
          <p:cNvSpPr/>
          <p:nvPr/>
        </p:nvSpPr>
        <p:spPr>
          <a:xfrm>
            <a:off x="5074920" y="2514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Koridor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34840" y="30449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 rute: BRT, Mikrotrans (JAK), pengumpan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55280" y="233172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38160" y="25146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13816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📍</a:t>
            </a:r>
            <a:endParaRPr lang="en-US" sz="1760" dirty="0"/>
          </a:p>
        </p:txBody>
      </p:sp>
      <p:sp>
        <p:nvSpPr>
          <p:cNvPr id="20" name="Text 18"/>
          <p:cNvSpPr/>
          <p:nvPr/>
        </p:nvSpPr>
        <p:spPr>
          <a:xfrm>
            <a:off x="8778240" y="2514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Geolokasi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38160" y="30449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 tap-in &amp; tap-out + lintang/bujur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3977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🕐</a:t>
            </a:r>
            <a:endParaRPr lang="en-US" sz="1760" dirty="0"/>
          </a:p>
        </p:txBody>
      </p:sp>
      <p:sp>
        <p:nvSpPr>
          <p:cNvPr id="25" name="Text 23"/>
          <p:cNvSpPr/>
          <p:nvPr/>
        </p:nvSpPr>
        <p:spPr>
          <a:xfrm>
            <a:off x="1371600" y="3977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1520" y="45079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tap → jam &amp; hari (fitur kunci)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51960" y="379476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434840" y="3977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4348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💳</a:t>
            </a:r>
            <a:endParaRPr lang="en-US" sz="1760" dirty="0"/>
          </a:p>
        </p:txBody>
      </p:sp>
      <p:sp>
        <p:nvSpPr>
          <p:cNvPr id="30" name="Text 28"/>
          <p:cNvSpPr/>
          <p:nvPr/>
        </p:nvSpPr>
        <p:spPr>
          <a:xfrm>
            <a:off x="5074920" y="3977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34840" y="45079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Rp0 (JAK), Rp3.500 (BRT), Rp20.000 (premium)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955280" y="379476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8160" y="3977640"/>
            <a:ext cx="502920" cy="50292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34" name="Text 32"/>
          <p:cNvSpPr/>
          <p:nvPr/>
        </p:nvSpPr>
        <p:spPr>
          <a:xfrm>
            <a:off x="81381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dirty="0">
                <a:solidFill>
                  <a:srgbClr val="000000"/>
                </a:solidFill>
              </a:rPr>
              <a:t>🎯</a:t>
            </a:r>
            <a:endParaRPr lang="en-US" sz="1760" dirty="0"/>
          </a:p>
        </p:txBody>
      </p:sp>
      <p:sp>
        <p:nvSpPr>
          <p:cNvPr id="35" name="Text 33"/>
          <p:cNvSpPr/>
          <p:nvPr/>
        </p:nvSpPr>
        <p:spPr>
          <a:xfrm>
            <a:off x="8778240" y="3977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138160" y="45079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Agregasi jumlah penumpang per koridor-jam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penting: durasi perjalanan acak (korelasi ≈ 0 dengan jarak) → tidak dijadikan target; tarif deterministik dari koridor → hanya untuk EDA.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 Permintaan Penumpang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Hipotesis H1 &amp; H2 terbukti</a:t>
            </a:r>
            <a:endParaRPr lang="en-US" sz="1500" dirty="0"/>
          </a:p>
        </p:txBody>
      </p:sp>
      <p:pic>
        <p:nvPicPr>
          <p:cNvPr id="6" name="Image 0" descr="../assets/fig_hour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5943600" cy="3328416"/>
          </a:xfrm>
          <a:prstGeom prst="rect">
            <a:avLst/>
          </a:prstGeom>
        </p:spPr>
      </p:pic>
      <p:pic>
        <p:nvPicPr>
          <p:cNvPr id="7" name="Image 1" descr="../assets/fig_week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54480"/>
            <a:ext cx="5212080" cy="29169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512064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85800" y="5257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Pola bimodal: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 tajam jam 6–7 pagi &amp; 16–17 sore.    </a:t>
            </a:r>
            <a:pPr indent="0" marL="0">
              <a:buNone/>
            </a:pPr>
            <a:r>
              <a:rPr lang="en-US" sz="16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Hari kerja ±3,7× lebih ramai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dibanding akhir pekan.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Konsentrasi Koridor &amp; Kepadatan Waktu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Hipotesis H3 terbukti (distribusi long-tail)</a:t>
            </a:r>
            <a:endParaRPr lang="en-US" sz="1500" dirty="0"/>
          </a:p>
        </p:txBody>
      </p:sp>
      <p:pic>
        <p:nvPicPr>
          <p:cNvPr id="6" name="Image 0" descr="../assets/fig_top_corrid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5760720" cy="3227832"/>
          </a:xfrm>
          <a:prstGeom prst="rect">
            <a:avLst/>
          </a:prstGeom>
        </p:spPr>
      </p:pic>
      <p:pic>
        <p:nvPicPr>
          <p:cNvPr id="7" name="Image 1" descr="../assets/fig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54480"/>
            <a:ext cx="5303520" cy="2971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507492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85800" y="5212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Long-tail: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kecil koridor menyerap mayoritas penumpang. Heatmap menegaskan blok padat pada jam sibuk hari kerja — kandidat prioritas armada &amp; petugas.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Origin-Destination (OD)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 Perencanaan Transportasi — Bangkitan, Tarikan &amp; Matriks OD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4617720" cy="4526280"/>
          </a:xfrm>
          <a:prstGeom prst="roundRect">
            <a:avLst>
              <a:gd name="adj" fmla="val 181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83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Konsep Perencanaan Transportasi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331720"/>
            <a:ext cx="365760" cy="36576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1280160" y="2331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Bangkitan / Produksi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Perjalanan yang berangkat dari suatu halte (dihitung dari tap-in).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383280"/>
            <a:ext cx="365760" cy="36576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128016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Tarikan / Atraksi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Perjalanan yang menuju suatu halte (dihitung dari tap-out).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52628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634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182.779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perjalanan OD lengkap
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 km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jarak rata-rata asal→tujuan</a:t>
            </a:r>
            <a:endParaRPr lang="en-US" sz="2200" dirty="0"/>
          </a:p>
        </p:txBody>
      </p:sp>
      <p:pic>
        <p:nvPicPr>
          <p:cNvPr id="18" name="Image 0" descr="../assets/fig_od_net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600200"/>
            <a:ext cx="6400800" cy="35844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349240" y="525780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flow = Produksi − Tarikan. Halte net positif (biru) = penghasil perjalanan (permukiman/asal komuter); net negatif (jingga) = penarik (pusat kegiatan/terminal seperti Senen, Tanah Abang, Ragunan).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Validasi &amp; Pembersihan Data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3 — Data Preparation · SKKNI Unit 4–6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578608" cy="13716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830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81,25%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lengkap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55848" y="1600200"/>
            <a:ext cx="2578608" cy="13716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17830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3355848" y="2487168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Duplikat transID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63056" y="1600200"/>
            <a:ext cx="2578608" cy="13716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63056" y="17830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6.720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163056" y="2487168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tap-out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70264" y="1600200"/>
            <a:ext cx="2578608" cy="13716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70264" y="1783080"/>
            <a:ext cx="257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970264" y="2487168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Koordinat invalid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 Pembersihan (dengan log before → after)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07008" y="3813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Duplikasi transID — </a:t>
            </a:r>
            <a:pPr indent="0" marL="0">
              <a:buNone/>
            </a:pPr>
            <a:r>
              <a:rPr lang="en-US" sz="14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Dibuang untuk integritas transaksi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66928" y="4471416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207008" y="44897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Koridor kosong (20.508 sel) — </a:t>
            </a:r>
            <a:pPr indent="0" marL="0">
              <a:buNone/>
            </a:pPr>
            <a:r>
              <a:rPr lang="en-US" sz="14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Diisi label 'Unknown' agar tetap teragregasi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66928" y="5148072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148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7008" y="51663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tidak masuk akal — </a:t>
            </a:r>
            <a:pPr indent="0" marL="0">
              <a:buNone/>
            </a:pPr>
            <a:r>
              <a:rPr lang="en-US" sz="14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Dikoreksi ke NaN (baris dipertahankan)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66928" y="5824728"/>
            <a:ext cx="475488" cy="47548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5824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207008" y="584301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Perjalanan tanpa tap-out — </a:t>
            </a:r>
            <a:pPr indent="0" marL="0">
              <a:buNone/>
            </a:pPr>
            <a:r>
              <a:rPr lang="en-US" sz="14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Ditandai; tetap dipakai untuk model demand (basis tap-in)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3 — Konstruksi Data · SKKNI Unit 7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029968"/>
            <a:ext cx="512064" cy="51206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2" dirty="0">
                <a:solidFill>
                  <a:srgbClr val="000000"/>
                </a:solidFill>
              </a:rPr>
              <a:t>🕐</a:t>
            </a:r>
            <a:endParaRPr lang="en-US" sz="1792" dirty="0"/>
          </a:p>
        </p:txBody>
      </p:sp>
      <p:sp>
        <p:nvSpPr>
          <p:cNvPr id="9" name="Text 7"/>
          <p:cNvSpPr/>
          <p:nvPr/>
        </p:nvSpPr>
        <p:spPr>
          <a:xfrm>
            <a:off x="1463040" y="190195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Waktu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190195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 · day_of_week · day_name · is_weekend · is_peak · part_of_day · week_of_month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310128"/>
            <a:ext cx="512064" cy="51206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310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2" dirty="0">
                <a:solidFill>
                  <a:srgbClr val="000000"/>
                </a:solidFill>
              </a:rPr>
              <a:t>🚌</a:t>
            </a:r>
            <a:endParaRPr lang="en-US" sz="1792" dirty="0"/>
          </a:p>
        </p:txBody>
      </p:sp>
      <p:sp>
        <p:nvSpPr>
          <p:cNvPr id="14" name="Text 12"/>
          <p:cNvSpPr/>
          <p:nvPr/>
        </p:nvSpPr>
        <p:spPr>
          <a:xfrm>
            <a:off x="1463040" y="318211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Koridor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3182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corridorID (target-encoded, cross-fitted) · corridor_type (one-hot)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E5AA8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59028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590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2" dirty="0">
                <a:solidFill>
                  <a:srgbClr val="000000"/>
                </a:solidFill>
              </a:rPr>
              <a:t>⚙️</a:t>
            </a:r>
            <a:endParaRPr lang="en-US" sz="1792" dirty="0"/>
          </a:p>
        </p:txBody>
      </p:sp>
      <p:sp>
        <p:nvSpPr>
          <p:cNvPr id="19" name="Text 17"/>
          <p:cNvSpPr/>
          <p:nvPr/>
        </p:nvSpPr>
        <p:spPr>
          <a:xfrm>
            <a:off x="1463040" y="44622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Transformasi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2000" y="4462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Agregasi ke (koridor × tanggal × jam) → target passenger_count = 61.730 slot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24344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74243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Anti-kebocoran: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demografi per-slot sengaja diabaikan (baru diketahui setelah tap); demand historis koridor ditangani TargetEncoder ber-cross-fitting, bukan rata-rata manual.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Skenario Pemodelan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4 — Modeling · SKKNI Unit 8 &amp; 9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Tujuh model kandidat dibandingkan pada pipeline &amp; split identik (80/20).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488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(Rata-rata)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29000" y="2148840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214884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 Linier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1576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429000" y="2715768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520440" y="271576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282696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28269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429000" y="3282696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20440" y="328269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3849624"/>
            <a:ext cx="2743200" cy="475488"/>
          </a:xfrm>
          <a:prstGeom prst="roundRect">
            <a:avLst>
              <a:gd name="adj" fmla="val 17308"/>
            </a:avLst>
          </a:prstGeom>
          <a:solidFill>
            <a:srgbClr val="F26522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384962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(Poisson)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37960" y="21488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37960" y="233172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Model Terbaik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274320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537960" y="3291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= count:poisson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2084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Tepat untuk data cacah (count) &amp; tak menghasilkan prediksi negatif.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61772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uji: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3-fold untuk seleksi model; metrik R², MAE, RMSE, MAPE. </a:t>
            </a:r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Optimasi: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pada pemenang (dipertahankan hanya bila CV meningkat).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tree-based unggul karena hubungan fitur–target non-linier (efek jam &amp; hari).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Perbandingan Model &amp; Pemilihan Terbaik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SKKNI Unit 9 — evaluasi adil antar kandidat</a:t>
            </a:r>
            <a:endParaRPr lang="en-US" sz="1500" dirty="0"/>
          </a:p>
        </p:txBody>
      </p:sp>
      <p:pic>
        <p:nvPicPr>
          <p:cNvPr id="6" name="Image 0" descr="../assets/fig_model_co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6858000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R² per Model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589520" y="2286000"/>
            <a:ext cx="4023360" cy="585216"/>
          </a:xfrm>
          <a:prstGeom prst="roundRect">
            <a:avLst>
              <a:gd name="adj" fmla="val 14063"/>
            </a:avLst>
          </a:prstGeom>
          <a:solidFill>
            <a:srgbClr val="F26522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18120" y="228600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0378440" y="228600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0,735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589520" y="2980944"/>
            <a:ext cx="4023360" cy="585216"/>
          </a:xfrm>
          <a:prstGeom prst="roundRect">
            <a:avLst>
              <a:gd name="adj" fmla="val 1406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18120" y="2980944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0378440" y="29809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0,727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589520" y="3675888"/>
            <a:ext cx="4023360" cy="585216"/>
          </a:xfrm>
          <a:prstGeom prst="roundRect">
            <a:avLst>
              <a:gd name="adj" fmla="val 1406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818120" y="3675888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0378440" y="367588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0,687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589520" y="4370832"/>
            <a:ext cx="4023360" cy="585216"/>
          </a:xfrm>
          <a:prstGeom prst="roundRect">
            <a:avLst>
              <a:gd name="adj" fmla="val 1406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818120" y="4370832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0378440" y="437083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0,664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7589520" y="5065776"/>
            <a:ext cx="4023360" cy="585216"/>
          </a:xfrm>
          <a:prstGeom prst="roundRect">
            <a:avLst>
              <a:gd name="adj" fmla="val 1406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818120" y="5065776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 Linier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10378440" y="50657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0,420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589520" y="5806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tree-based mengungguli regresi linier karena hubungan fitur–target non-linier.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Evaluasi Model pada Data Hold-out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5 — Evaluation · SKKNI Unit 10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737360" cy="1298448"/>
          </a:xfrm>
          <a:prstGeom prst="roundRect">
            <a:avLst>
              <a:gd name="adj" fmla="val 633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0,715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(Test)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68880" y="1600200"/>
            <a:ext cx="1737360" cy="1298448"/>
          </a:xfrm>
          <a:prstGeom prst="roundRect">
            <a:avLst>
              <a:gd name="adj" fmla="val 633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1,05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468880" y="23957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(pnp)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1600200"/>
            <a:ext cx="1737360" cy="1298448"/>
          </a:xfrm>
          <a:prstGeom prst="roundRect">
            <a:avLst>
              <a:gd name="adj" fmla="val 633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8912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389120" y="23957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(pnp)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09360" y="16916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mengumpul di sekitar garis ideal; residual terpusat di nol tanpa bias sistematis.</a:t>
            </a:r>
            <a:endParaRPr lang="en-US" sz="1450" dirty="0"/>
          </a:p>
        </p:txBody>
      </p:sp>
      <p:pic>
        <p:nvPicPr>
          <p:cNvPr id="16" name="Image 0" descr="../assets/fig_pred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063240"/>
            <a:ext cx="5669280" cy="3172968"/>
          </a:xfrm>
          <a:prstGeom prst="rect">
            <a:avLst/>
          </a:prstGeom>
        </p:spPr>
      </p:pic>
      <p:pic>
        <p:nvPicPr>
          <p:cNvPr id="17" name="Image 1" descr="../assets/fig_resi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63240"/>
            <a:ext cx="5486400" cy="30723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Faktor Pendorong Permintaan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— Hipotesis H4 terbukti</a:t>
            </a:r>
            <a:endParaRPr lang="en-US" sz="1500" dirty="0"/>
          </a:p>
        </p:txBody>
      </p:sp>
      <p:pic>
        <p:nvPicPr>
          <p:cNvPr id="6" name="Image 0" descr="../assets/fig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6858000" cy="3840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43800" y="1783080"/>
            <a:ext cx="4160520" cy="3886200"/>
          </a:xfrm>
          <a:prstGeom prst="roundRect">
            <a:avLst>
              <a:gd name="adj" fmla="val 211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0" y="1965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0" y="242316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waktu mendominasi
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is_weekend, day_of_week, part_of_day, dan hour adalah pendorong utama demand.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772400" y="397764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terkonfirmasi
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 temporal jauh lebih menentukan daripada demografi — sejalan dengan objektif bisnis penjadwalan armada.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🔎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Proses Pemodelan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5 — SKKNI Unit 11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Kesesuaian &amp; Kualitas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tahap CRISP-DM sesuai rencana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(random_state), perbandingan adil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Pemilihan model berbasis CV, bukan test tunggal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jujur: target R²≥0,80 dilaporkan tak tercapai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Temuan Kontrol Kualitas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28600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Ditemukan &amp; diperbaiki: TargetEncoder mode auto salah mendeteksi target cacah sebagai multiclass (koridor meledak jadi 55 kolom → potensi bocor). Dikoreksi dengan target_type='continuous' lalu dilatih ulang.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64240" cy="1965960"/>
          </a:xfrm>
          <a:prstGeom prst="roundRect">
            <a:avLst>
              <a:gd name="adj" fmla="val 418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Keterbatasan &amp; Pengembangan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46634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hanya 1 bulan → belum menangkap musiman tahunan / hari libur nasional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Granularitas koridor-jam memiliki batas bawah noise Poisson (rata-rata cacah ~3) → R² 0,80 sulit dilampaui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Pengembangan: data multi-bulan, fitur eksternal (cuaca, hari libur, event), uji model deret waktu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Bisnis &amp; Rekomendasi Actionable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analisis menuju keputusan operasional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938528"/>
            <a:ext cx="566928" cy="566928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4" dirty="0">
                <a:solidFill>
                  <a:srgbClr val="000000"/>
                </a:solidFill>
              </a:rPr>
              <a:t>🚍</a:t>
            </a:r>
            <a:endParaRPr lang="en-US" sz="1984" dirty="0"/>
          </a:p>
        </p:txBody>
      </p:sp>
      <p:sp>
        <p:nvSpPr>
          <p:cNvPr id="9" name="Text 7"/>
          <p:cNvSpPr/>
          <p:nvPr/>
        </p:nvSpPr>
        <p:spPr>
          <a:xfrm>
            <a:off x="1554480" y="18562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Penjadwalan Dinamis Armada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54480" y="225856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Perbanyak frekuensi di jam &amp; koridor puncak, kurangi saat lengang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035808"/>
            <a:ext cx="566928" cy="56692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35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4" dirty="0">
                <a:solidFill>
                  <a:srgbClr val="000000"/>
                </a:solidFill>
              </a:rPr>
              <a:t>👷</a:t>
            </a:r>
            <a:endParaRPr lang="en-US" sz="1984" dirty="0"/>
          </a:p>
        </p:txBody>
      </p:sp>
      <p:sp>
        <p:nvSpPr>
          <p:cNvPr id="14" name="Text 12"/>
          <p:cNvSpPr/>
          <p:nvPr/>
        </p:nvSpPr>
        <p:spPr>
          <a:xfrm>
            <a:off x="1554480" y="295351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Petugas Berbasis Prediksi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33558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Tempatkan SDM pada slot koridor-jam berdemand tinggi &amp; titik bangkitan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133088"/>
            <a:ext cx="566928" cy="566928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33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4" dirty="0">
                <a:solidFill>
                  <a:srgbClr val="000000"/>
                </a:solidFill>
              </a:rPr>
              <a:t>📅</a:t>
            </a:r>
            <a:endParaRPr lang="en-US" sz="1984" dirty="0"/>
          </a:p>
        </p:txBody>
      </p:sp>
      <p:sp>
        <p:nvSpPr>
          <p:cNvPr id="19" name="Text 17"/>
          <p:cNvSpPr/>
          <p:nvPr/>
        </p:nvSpPr>
        <p:spPr>
          <a:xfrm>
            <a:off x="1554480" y="40507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Akhir Pekan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54480" y="44531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Sesuaikan operasi mengikuti pola akhir pekan yang jauh lebih rendah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AAB6CC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7240" y="5230368"/>
            <a:ext cx="566928" cy="56692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4" dirty="0">
                <a:solidFill>
                  <a:srgbClr val="000000"/>
                </a:solidFill>
              </a:rPr>
              <a:t>🏗️</a:t>
            </a:r>
            <a:endParaRPr lang="en-US" sz="1984" dirty="0"/>
          </a:p>
        </p:txBody>
      </p:sp>
      <p:sp>
        <p:nvSpPr>
          <p:cNvPr id="24" name="Text 22"/>
          <p:cNvSpPr/>
          <p:nvPr/>
        </p:nvSpPr>
        <p:spPr>
          <a:xfrm>
            <a:off x="1554480" y="51480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 Halte Padat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554480" y="55504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perbaikan kapasitas pada klaster halte tersibuk &amp; penarik utama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603504" cy="603504"/>
          </a:xfrm>
          <a:prstGeom prst="ellipse">
            <a:avLst/>
          </a:prstGeom>
          <a:solidFill>
            <a:srgbClr val="EAF2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36576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— Aplikasi Streamlit Interaktif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6 — Deployment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halaman interaktif mengikuti alur CRISP-DM: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Beranda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468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Dataset &amp; Telaah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926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Kualitas Data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3832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EDA Interaktif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8404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Peta Geospasial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297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Analisis OD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754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Pemodelan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2120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212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Simulasi Prediksi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669280"/>
            <a:ext cx="5212080" cy="384048"/>
          </a:xfrm>
          <a:prstGeom prst="roundRect">
            <a:avLst>
              <a:gd name="adj" fmla="val 14286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6692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Kesimpulan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035040" y="15727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Fitur unggulan — Simulasi Prediksi 24 Jam</a:t>
            </a:r>
            <a:endParaRPr lang="en-US" sz="1600" dirty="0"/>
          </a:p>
        </p:txBody>
      </p:sp>
      <p:pic>
        <p:nvPicPr>
          <p:cNvPr id="26" name="Image 0" descr="../assets/fig_day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011680"/>
            <a:ext cx="5760720" cy="299923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035040" y="507492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koridor + hari → model menghasilkan kurva permintaan sepanjang hari (puncak jingga = jam sibuk). Bukti model menangkap ritme operasional, bukan sekadar satu angka.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035040" y="5742432"/>
            <a:ext cx="576072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6263640" y="5742432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Arsitektur: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dilatih offline (.pkl) · app memuat artefak · deploy gratis di Streamlit Cloud.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572000"/>
            <a:ext cx="3840480" cy="3840480"/>
          </a:xfrm>
          <a:prstGeom prst="ellipse">
            <a:avLst/>
          </a:prstGeom>
          <a:solidFill>
            <a:srgbClr val="1E5AA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280160"/>
            <a:ext cx="3291840" cy="329184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1952244"/>
            <a:ext cx="420624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187452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55064" y="187452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06624" y="187452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1874520"/>
            <a:ext cx="164592" cy="164592"/>
          </a:xfrm>
          <a:prstGeom prst="ellipse">
            <a:avLst/>
          </a:prstGeom>
          <a:solidFill>
            <a:srgbClr val="F2652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9744" y="1874520"/>
            <a:ext cx="164592" cy="164592"/>
          </a:xfrm>
          <a:prstGeom prst="ellipse">
            <a:avLst/>
          </a:prstGeom>
          <a:solidFill>
            <a:srgbClr val="4A90D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286000"/>
            <a:ext cx="10607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 permintaan TransJakarta digerakkan fitur temporal (jam &amp; hari).</a:t>
            </a:r>
            <a:endParaRPr lang="en-US" sz="16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OD mengungkap halte penghasil vs penarik perjalanan untuk penempatan sumber daya.</a:t>
            </a:r>
            <a:endParaRPr lang="en-US" sz="16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XGBoost-Poisson mencapai R² 0,715 &amp; MAE 1,05 pnp — memadai untuk perencanaan.</a:t>
            </a:r>
            <a:endParaRPr lang="en-US" sz="16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11 unit kompetensi SKKNI tercakup dalam alur CRISP-DM.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58368" y="5029200"/>
            <a:ext cx="4389120" cy="566928"/>
          </a:xfrm>
          <a:prstGeom prst="roundRect">
            <a:avLst>
              <a:gd name="adj" fmla="val 48387"/>
            </a:avLst>
          </a:prstGeom>
          <a:solidFill>
            <a:srgbClr val="F26522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502920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🙏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Mohammad Yusuf  ·  Sertifikasi Ilmuwan Data (Data Scientist) — DSS.01.00.23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TransJakarta Demand Prediction</dc:title>
  <dc:subject>PptxGenJS Presentation</dc:subject>
  <dc:creator>Mohammad Yusuf</dc:creator>
  <cp:lastModifiedBy>Mohammad Yusuf</cp:lastModifiedBy>
  <cp:revision>1</cp:revision>
  <dcterms:created xsi:type="dcterms:W3CDTF">2026-07-17T20:18:37Z</dcterms:created>
  <dcterms:modified xsi:type="dcterms:W3CDTF">2026-07-17T20:18:37Z</dcterms:modified>
</cp:coreProperties>
</file>